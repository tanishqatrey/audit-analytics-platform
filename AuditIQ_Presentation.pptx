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463040"/>
            <a:ext cx="1097280" cy="109728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3600" b="1">
                <a:solidFill>
                  <a:srgbClr val="1A1A1A"/>
                </a:solidFill>
                <a:latin typeface="Times New Roman"/>
              </a:defRPr>
            </a:pPr>
            <a:r>
              <a:t>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Times New Roman"/>
              </a:defRPr>
            </a:pPr>
            <a:r>
              <a:t>AuditIQ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C953"/>
                </a:solidFill>
                <a:latin typeface="Times New Roman"/>
              </a:defRPr>
            </a:pPr>
            <a:r>
              <a:t>AI-Powered Fraud &amp; Anomaly Detection for Enterprise Audit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663440"/>
            <a:ext cx="11094415" cy="25400"/>
          </a:xfrm>
          <a:prstGeom prst="rect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Times New Roman"/>
              </a:defRPr>
            </a:pPr>
            <a:r>
              <a:t>Built for Deloitte Hackathon  |  Production-Grade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669280"/>
            <a:ext cx="1645920" cy="3657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8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687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53"/>
                </a:solidFill>
                <a:latin typeface="Times New Roman"/>
              </a:defRPr>
            </a:pPr>
            <a:r>
              <a:t>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5669280"/>
            <a:ext cx="1645920" cy="3657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8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5687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53"/>
                </a:solidFill>
                <a:latin typeface="Times New Roman"/>
              </a:defRPr>
            </a:pPr>
            <a:r>
              <a:t>React + MUI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5669280"/>
            <a:ext cx="1645920" cy="3657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8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5687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53"/>
                </a:solidFill>
                <a:latin typeface="Times New Roman"/>
              </a:defRPr>
            </a:pPr>
            <a:r>
              <a:t>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5669280"/>
            <a:ext cx="1645920" cy="3657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8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5687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53"/>
                </a:solidFill>
                <a:latin typeface="Times New Roman"/>
              </a:defRPr>
            </a:pPr>
            <a:r>
              <a:t>scikit-learn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669280"/>
            <a:ext cx="1645920" cy="3657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8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687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53"/>
                </a:solidFill>
                <a:latin typeface="Times New Roman"/>
              </a:defRPr>
            </a:pPr>
            <a:r>
              <a:t>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Times New Roman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53"/>
                </a:solidFill>
                <a:latin typeface="Times New Roman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4415" cy="25400"/>
          </a:xfrm>
          <a:prstGeom prst="rect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20116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4444"/>
                </a:solidFill>
                <a:latin typeface="Times New Roman"/>
              </a:defRPr>
            </a:pPr>
            <a:r>
              <a:t>$4.7 Trillion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DD"/>
                </a:solidFill>
                <a:latin typeface="Times New Roman"/>
              </a:defRPr>
            </a:pPr>
            <a:r>
              <a:t>Global fraud losses</a:t>
            </a:r>
            <a:br/>
            <a:r>
              <a:t>per year (ACFE 2024)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560320" cy="20116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Times New Roman"/>
              </a:defRPr>
            </a:pPr>
            <a:r>
              <a:t>18+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DD"/>
                </a:solidFill>
                <a:latin typeface="Times New Roman"/>
              </a:defRPr>
            </a:pPr>
            <a:r>
              <a:t>Average time to</a:t>
            </a:r>
            <a:br/>
            <a:r>
              <a:t>detect financial fraud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560320" cy="20116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4444"/>
                </a:solidFill>
                <a:latin typeface="Times New Roman"/>
              </a:defRPr>
            </a:pPr>
            <a:r>
              <a:t>Manual Audits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DD"/>
                </a:solidFill>
                <a:latin typeface="Times New Roman"/>
              </a:defRPr>
            </a:pPr>
            <a:r>
              <a:t>Only 5-10% of</a:t>
            </a:r>
            <a:br/>
            <a:r>
              <a:t>transactions checked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463040"/>
            <a:ext cx="2560320" cy="20116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Times New Roman"/>
              </a:defRPr>
            </a:pPr>
            <a:r>
              <a:t>Complex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DD"/>
                </a:solidFill>
                <a:latin typeface="Times New Roman"/>
              </a:defRPr>
            </a:pPr>
            <a:r>
              <a:t>Multiple data sources,</a:t>
            </a:r>
            <a:br/>
            <a:r>
              <a:t>no unified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Core Question: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DDDDD"/>
                </a:solidFill>
                <a:latin typeface="Times New Roman"/>
              </a:defRPr>
            </a:pPr>
            <a:r>
              <a:t>How can we automate audit detection across both transaction-level</a:t>
            </a:r>
            <a:br/>
            <a:r>
              <a:t>ledger data AND company-level financial statements in one platform?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2011680" cy="347472"/>
          </a:xfrm>
          <a:prstGeom prst="roundRect">
            <a:avLst/>
          </a:prstGeom>
          <a:solidFill>
            <a:srgbClr val="2A0A0A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687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Times New Roman"/>
              </a:defRPr>
            </a:pPr>
            <a:r>
              <a:t>Duplicate Invoices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5669280"/>
            <a:ext cx="2011680" cy="347472"/>
          </a:xfrm>
          <a:prstGeom prst="roundRect">
            <a:avLst/>
          </a:prstGeom>
          <a:solidFill>
            <a:srgbClr val="2A0A0A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5687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Times New Roman"/>
              </a:defRPr>
            </a:pPr>
            <a:r>
              <a:t>Earnings Manipulation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5669280"/>
            <a:ext cx="2011680" cy="347472"/>
          </a:xfrm>
          <a:prstGeom prst="roundRect">
            <a:avLst/>
          </a:prstGeom>
          <a:solidFill>
            <a:srgbClr val="2A0A0A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5687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Times New Roman"/>
              </a:defRPr>
            </a:pPr>
            <a:r>
              <a:t>Bankruptcy Risk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5669280"/>
            <a:ext cx="2011680" cy="347472"/>
          </a:xfrm>
          <a:prstGeom prst="roundRect">
            <a:avLst/>
          </a:prstGeom>
          <a:solidFill>
            <a:srgbClr val="2A0A0A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5687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Times New Roman"/>
              </a:defRPr>
            </a:pPr>
            <a:r>
              <a:t>Vendor Fraud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5669280"/>
            <a:ext cx="2011680" cy="347472"/>
          </a:xfrm>
          <a:prstGeom prst="roundRect">
            <a:avLst/>
          </a:prstGeom>
          <a:solidFill>
            <a:srgbClr val="2A0A0A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5687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Times New Roman"/>
              </a:defRPr>
            </a:pPr>
            <a:r>
              <a:t>Statistical Anomalies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Times New Roman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53"/>
                </a:solidFill>
                <a:latin typeface="Times New Roman"/>
              </a:defRPr>
            </a:pPr>
            <a:r>
              <a:t>Our Solution — AuditIQ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4415" cy="25400"/>
          </a:xfrm>
          <a:prstGeom prst="rect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One Shared Detection Engine  +  Two Domain Adapters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03520" cy="41148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53"/>
                </a:solidFill>
                <a:latin typeface="Times New Roman"/>
              </a:defRPr>
            </a:pPr>
            <a:r>
              <a:t>Ledger / Vendor Payments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017520"/>
            <a:ext cx="320040" cy="320040"/>
          </a:xfrm>
          <a:prstGeom prst="ellipse">
            <a:avLst/>
          </a:prstGeom>
          <a:solidFill>
            <a:srgbClr val="008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99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Benford's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Digit distribution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008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85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Duplicate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9593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Fuzzy invoice matching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389120"/>
            <a:ext cx="320040" cy="320040"/>
          </a:xfrm>
          <a:prstGeom prst="ellipse">
            <a:avLst/>
          </a:prstGeom>
          <a:solidFill>
            <a:srgbClr val="008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370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Three-Way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45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PO vs Invoice vs GR check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074920"/>
            <a:ext cx="320040" cy="320040"/>
          </a:xfrm>
          <a:prstGeom prst="ellipse">
            <a:avLst/>
          </a:prstGeom>
          <a:solidFill>
            <a:srgbClr val="008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056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Transaction 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330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Isolation Forest + LOF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103120"/>
            <a:ext cx="5303520" cy="41148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53"/>
                </a:solidFill>
                <a:latin typeface="Times New Roman"/>
              </a:defRPr>
            </a:pPr>
            <a:r>
              <a:t>Financial Statements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3017520"/>
            <a:ext cx="320040" cy="320040"/>
          </a:xfrm>
          <a:prstGeom prst="ellipse">
            <a:avLst/>
          </a:prstGeom>
          <a:solidFill>
            <a:srgbClr val="008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t>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999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Beneish M-Score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Earnings manipulation index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703320"/>
            <a:ext cx="320040" cy="320040"/>
          </a:xfrm>
          <a:prstGeom prst="ellipse">
            <a:avLst/>
          </a:prstGeom>
          <a:solidFill>
            <a:srgbClr val="008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t>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685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Altman Z-Score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9593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Bankruptcy risk prediction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4389120"/>
            <a:ext cx="320040" cy="320040"/>
          </a:xfrm>
          <a:prstGeom prst="ellipse">
            <a:avLst/>
          </a:prstGeom>
          <a:solidFill>
            <a:srgbClr val="008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t>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370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Ratio Anomaly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645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IF + LOF on financial ratios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Times New Roman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53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4415" cy="25400"/>
          </a:xfrm>
          <a:prstGeom prst="rect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508760" cy="29260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" y="1737360"/>
            <a:ext cx="502920" cy="50292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Data</a:t>
            </a:r>
            <a:br/>
            <a: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CSV Upload</a:t>
            </a:r>
            <a:br/>
            <a:r>
              <a:t>SEC EDGAR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20240" y="2743200"/>
            <a:ext cx="411480" cy="228600"/>
          </a:xfrm>
          <a:prstGeom prst="rightArrow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1554480"/>
            <a:ext cx="1508760" cy="29260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70632" y="1737360"/>
            <a:ext cx="502920" cy="50292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774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Validation</a:t>
            </a:r>
            <a:br/>
            <a:r>
              <a:t>&amp;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20040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Sanitize</a:t>
            </a:r>
            <a:br/>
            <a:r>
              <a:t>PostgreSQL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49040" y="2743200"/>
            <a:ext cx="411480" cy="228600"/>
          </a:xfrm>
          <a:prstGeom prst="rightArrow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0" y="1554480"/>
            <a:ext cx="1508760" cy="29260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99432" y="1737360"/>
            <a:ext cx="502920" cy="50292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3774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Detection</a:t>
            </a:r>
            <a:br/>
            <a:r>
              <a:t>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20040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Parallel</a:t>
            </a:r>
            <a:br/>
            <a:r>
              <a:t>Execution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577840" y="2743200"/>
            <a:ext cx="411480" cy="228600"/>
          </a:xfrm>
          <a:prstGeom prst="rightArrow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0" y="1554480"/>
            <a:ext cx="1508760" cy="29260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3774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Ensemble</a:t>
            </a:r>
            <a:br/>
            <a:r>
              <a:t>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20040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Weighted</a:t>
            </a:r>
            <a:br/>
            <a:r>
              <a:t>Averaging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406640" y="2743200"/>
            <a:ext cx="411480" cy="228600"/>
          </a:xfrm>
          <a:prstGeom prst="rightArrow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0" y="1554480"/>
            <a:ext cx="1508760" cy="29260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57032" y="1737360"/>
            <a:ext cx="502920" cy="50292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23774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Exception</a:t>
            </a:r>
            <a:br/>
            <a: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20040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React MUI</a:t>
            </a:r>
            <a:br/>
            <a:r>
              <a:t>Recharts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235440" y="2743200"/>
            <a:ext cx="411480" cy="228600"/>
          </a:xfrm>
          <a:prstGeom prst="rightArrow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1554480"/>
            <a:ext cx="1508760" cy="29260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85832" y="1737360"/>
            <a:ext cx="502920" cy="50292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3774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Case</a:t>
            </a:r>
            <a:br/>
            <a:r>
              <a:t>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320040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Triage &amp;</a:t>
            </a:r>
            <a:br/>
            <a:r>
              <a:t>Audit Log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937760"/>
            <a:ext cx="11277295" cy="11887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8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53"/>
                </a:solidFill>
                <a:latin typeface="Times New Roman"/>
              </a:defRPr>
            </a:pPr>
            <a:r>
              <a:t>Tech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53"/>
                </a:solidFill>
                <a:latin typeface="Times New Roman"/>
              </a:defRPr>
            </a:pPr>
            <a:r>
              <a:t>Backend: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FastAPI + Pydantic + SQLAlchemy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19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53"/>
                </a:solidFill>
                <a:latin typeface="Times New Roman"/>
              </a:defRPr>
            </a:pPr>
            <a:r>
              <a:t>Frontend: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59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React 18 + Material UI + Recharts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58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53"/>
                </a:solidFill>
                <a:latin typeface="Times New Roman"/>
              </a:defRPr>
            </a:pPr>
            <a:r>
              <a:t>Database: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3998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PostgreSQL 16 + Connection Pooling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715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53"/>
                </a:solidFill>
                <a:latin typeface="Times New Roman"/>
              </a:defRPr>
            </a:pPr>
            <a:r>
              <a:t>ML/Stats: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scikit-learn (IF, LOF) + SciPy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19" y="5715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53"/>
                </a:solidFill>
                <a:latin typeface="Times New Roman"/>
              </a:defRPr>
            </a:pPr>
            <a:r>
              <a:t>Infra: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59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Docker Compose + Parallel Executor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Times New Roman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53"/>
                </a:solidFill>
                <a:latin typeface="Times New Roman"/>
              </a:defRPr>
            </a:pPr>
            <a:r>
              <a:t>Ledger Detection —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4415" cy="25400"/>
          </a:xfrm>
          <a:prstGeom prst="rect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06040" cy="39319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508760"/>
            <a:ext cx="365760" cy="36576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1A1A1A"/>
                </a:solidFill>
                <a:latin typeface="Times New Roman"/>
              </a:defRPr>
            </a:pPr>
            <a: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Benford's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Tests 1st, 2nd &amp; 1st-two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Chi-square goodness of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MAD conformity per vendor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Min 30 samples per vendor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Overrepresentation boost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371600"/>
            <a:ext cx="2606040" cy="39319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83280" y="1508760"/>
            <a:ext cx="365760" cy="36576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1A1A1A"/>
                </a:solidFill>
                <a:latin typeface="Times New Roman"/>
              </a:defRPr>
            </a:pPr>
            <a: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5544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Duplicate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57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RapidFuzz fuzzy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Blocking: vendor + amount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0632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Vendor name match (35%)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566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Invoice number match (25%)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069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Amount (30%) + Date (10%)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371600"/>
            <a:ext cx="2606040" cy="39319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72200" y="1508760"/>
            <a:ext cx="365760" cy="36576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1A1A1A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5544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Three-Way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57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PO vs Invoice vs GR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Missing PO (weight: 0.9)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0632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Missing GR (weight: 0.7)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566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Price variance (0.6)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069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Quantity variance (0.6)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1371600"/>
            <a:ext cx="2606040" cy="39319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61120" y="1508760"/>
            <a:ext cx="365760" cy="36576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1A1A1A"/>
                </a:solidFill>
                <a:latin typeface="Times New Roman"/>
              </a:defRPr>
            </a:pPr>
            <a: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15544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ML Anomaly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057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Isolation Forest + LOF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log(amount) feature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0632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Vendor frequency feature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566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StandardScaler applied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069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•  Score = avg(IF, LOF)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53"/>
                </a:solidFill>
                <a:latin typeface="Times New Roman"/>
              </a:defRPr>
            </a:pPr>
            <a:r>
              <a:t>Upload CSV  &gt;&gt;  Validate  &gt;&gt;  Run 4 Tests in Parallel  &gt;&gt;  Ensemble Score  &gt;&gt;  Flag Exceptions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Times New Roman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53"/>
                </a:solidFill>
                <a:latin typeface="Times New Roman"/>
              </a:defRPr>
            </a:pPr>
            <a:r>
              <a:t>Financial Statement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4415" cy="25400"/>
          </a:xfrm>
          <a:prstGeom prst="rect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1A1A1A"/>
                </a:solidFill>
                <a:latin typeface="Times New Roman"/>
              </a:defRPr>
            </a:pPr>
            <a: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Beneish M-Score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Times New Roman"/>
              </a:defRPr>
            </a:pPr>
            <a:r>
              <a:t>8-Variable Manipulation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DSRI  Days Sales Receivables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GMI   Gross Margin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638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AQI   Asset Quality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11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SGI   Sales Growth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58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DEPI  Depreciation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SGAI  SG&amp;A Expense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53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LVGI  Leverage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011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TATA  Total Accruals /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444"/>
                </a:solidFill>
                <a:latin typeface="Times New Roman"/>
              </a:defRPr>
            </a:pPr>
            <a:r>
              <a:t>Flag if M-Score &gt; -2.22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371600"/>
            <a:ext cx="347472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0" y="1508760"/>
            <a:ext cx="411480" cy="41148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1A1A1A"/>
                </a:solidFill>
                <a:latin typeface="Times New Roman"/>
              </a:defRPr>
            </a:pPr>
            <a:r>
              <a:t>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Altman Z-Score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Times New Roman"/>
              </a:defRPr>
            </a:pPr>
            <a:r>
              <a:t>Bankruptcy Risk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14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A = Working Capital / Total Assets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98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B = Retained Earnings / Total Assets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2826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C = Net Income / Total Assets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667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D = Market Equity / Total Liabilities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050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E = Revenue / Total Assets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572000"/>
            <a:ext cx="3017520" cy="32004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590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53"/>
                </a:solidFill>
                <a:latin typeface="Times New Roman"/>
              </a:defRPr>
            </a:pPr>
            <a:r>
              <a:t>Safe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590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&gt; 2.99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4956048"/>
            <a:ext cx="3017520" cy="32004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9743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Times New Roman"/>
              </a:defRPr>
            </a:pPr>
            <a:r>
              <a:t>Grey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9743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1.81 - 2.99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5340096"/>
            <a:ext cx="3017520" cy="32004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53583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444"/>
                </a:solidFill>
                <a:latin typeface="Times New Roman"/>
              </a:defRPr>
            </a:pPr>
            <a:r>
              <a:t>Distress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3583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Times New Roman"/>
              </a:defRPr>
            </a:pPr>
            <a:r>
              <a:t>&lt; 1.81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1371600"/>
            <a:ext cx="347472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21040" y="1508760"/>
            <a:ext cx="411480" cy="41148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1A1A1A"/>
                </a:solidFill>
                <a:latin typeface="Times New Roman"/>
              </a:defRPr>
            </a:pPr>
            <a:r>
              <a:t>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Ratio Anomaly (ML)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Times New Roman"/>
              </a:defRPr>
            </a:pPr>
            <a:r>
              <a:t>Isolation Forest + LOF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514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Current Ratio (Liquidity)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898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Debt-to-Equity (Leverage)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2826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Gross Margin (Profitability)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6667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Asset Turnover (Efficiency)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050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Times New Roman"/>
              </a:defRPr>
            </a:pPr>
            <a:r>
              <a:t>•  Receivables Turnover (Speed)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572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53"/>
                </a:solidFill>
                <a:latin typeface="Times New Roman"/>
              </a:defRPr>
            </a:pPr>
            <a:r>
              <a:t>Both models combined:</a:t>
            </a:r>
            <a:br/>
            <a:r>
              <a:t>Score = avg(IF, LOF)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AAAAA"/>
                </a:solidFill>
                <a:latin typeface="Times New Roman"/>
              </a:defRPr>
            </a:pPr>
            <a:r>
              <a:t>SEC AAER cases tested: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486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Times New Roman"/>
              </a:defRPr>
            </a:pPr>
            <a:r>
              <a:t>Enron, WorldCom, Tyco, HealthSouth</a:t>
            </a:r>
            <a:br/>
            <a:r>
              <a:t>vs Apple, Microsoft, Amazon, Tesla...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Times New Roman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53"/>
                </a:solidFill>
                <a:latin typeface="Times New Roman"/>
              </a:defRPr>
            </a:pPr>
            <a:r>
              <a:t>Dashboard &amp;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4415" cy="25400"/>
          </a:xfrm>
          <a:prstGeom prst="rect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13716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63040"/>
            <a:ext cx="320040" cy="3200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813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Executive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KPI cards, Benford charts,</a:t>
            </a:r>
            <a:br/>
            <a:r>
              <a:t>case status breakdown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13716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0" y="1463040"/>
            <a:ext cx="320040" cy="3200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4813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Financial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Corporate risk distribution,</a:t>
            </a:r>
            <a:br/>
            <a:r>
              <a:t>distress vs manipulation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566160" cy="13716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0" y="1463040"/>
            <a:ext cx="320040" cy="3200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4813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Ledger Exceptions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8745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Triage table, scores,</a:t>
            </a:r>
            <a:br/>
            <a:r>
              <a:t>duplicate pairs, CSV export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71800"/>
            <a:ext cx="3566160" cy="13716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0815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Financial Exceptions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474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M-Score vs Z-Score scatter,</a:t>
            </a:r>
            <a:br/>
            <a:r>
              <a:t>company triage 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971800"/>
            <a:ext cx="3566160" cy="13716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89120" y="3063240"/>
            <a:ext cx="320040" cy="3200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0815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Threshold Explorer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474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Live precision/recall/F1</a:t>
            </a:r>
            <a:br/>
            <a:r>
              <a:t>sensitivity sliders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971800"/>
            <a:ext cx="3566160" cy="13716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0" y="3063240"/>
            <a:ext cx="320040" cy="3200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0815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Benchmark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474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Single-test vs ensemble</a:t>
            </a:r>
            <a:br/>
            <a:r>
              <a:t>performance lift charts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72000"/>
            <a:ext cx="3566160" cy="13716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8640" y="4663440"/>
            <a:ext cx="320040" cy="3200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6817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Upload &amp; Ingestion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074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Drag-drop CSV upload,</a:t>
            </a:r>
            <a:br/>
            <a:r>
              <a:t>SEC Edgar company select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572000"/>
            <a:ext cx="3566160" cy="13716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389120" y="4663440"/>
            <a:ext cx="320040" cy="3200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6817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Audit Trail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074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Full run history, params,</a:t>
            </a:r>
            <a:br/>
            <a:r>
              <a:t>runtime profiling, export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572000"/>
            <a:ext cx="3566160" cy="13716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29600" y="4663440"/>
            <a:ext cx="320040" cy="3200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46817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Case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074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Times New Roman"/>
              </a:defRPr>
            </a:pPr>
            <a:r>
              <a:t>Confirm / reject / review,</a:t>
            </a:r>
            <a:br/>
            <a:r>
              <a:t>reviewer notes &amp; timestamps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Times New Roman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53"/>
                </a:solidFill>
                <a:latin typeface="Times New Roman"/>
              </a:defRPr>
            </a:pPr>
            <a:r>
              <a:t>What Makes AuditIQ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4415" cy="25400"/>
          </a:xfrm>
          <a:prstGeom prst="rect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20116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4520" y="1554480"/>
            <a:ext cx="548640" cy="5486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Ensemble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Times New Roman"/>
              </a:defRPr>
            </a:pPr>
            <a:r>
              <a:t>Multiple tests combined into</a:t>
            </a:r>
            <a:br/>
            <a:r>
              <a:t>one weighted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20116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15000" y="1554480"/>
            <a:ext cx="548640" cy="5486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240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Dual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060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Times New Roman"/>
              </a:defRPr>
            </a:pPr>
            <a:r>
              <a:t>One engine handles both</a:t>
            </a:r>
            <a:br/>
            <a:r>
              <a:t>ledger AND financial statements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566160" cy="20116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5480" y="1554480"/>
            <a:ext cx="548640" cy="5486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240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Parallel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060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Times New Roman"/>
              </a:defRPr>
            </a:pPr>
            <a:r>
              <a:t>ProcessPoolExecutor splits</a:t>
            </a:r>
            <a:br/>
            <a:r>
              <a:t>data — up to 4x faster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40"/>
            <a:ext cx="3566160" cy="20116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74520" y="3931920"/>
            <a:ext cx="548640" cy="5486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17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Explainable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983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Times New Roman"/>
              </a:defRPr>
            </a:pPr>
            <a:r>
              <a:t>Human-readable reason codes</a:t>
            </a:r>
            <a:br/>
            <a:r>
              <a:t>with severity bands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749040"/>
            <a:ext cx="3566160" cy="20116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5000" y="3931920"/>
            <a:ext cx="548640" cy="5486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617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Full 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983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Times New Roman"/>
              </a:defRPr>
            </a:pPr>
            <a:r>
              <a:t>Every run logged with params,</a:t>
            </a:r>
            <a:br/>
            <a:r>
              <a:t>runtime, and reviewer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749040"/>
            <a:ext cx="3566160" cy="20116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55480" y="3931920"/>
            <a:ext cx="548640" cy="54864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 b="1">
                <a:solidFill>
                  <a:srgbClr val="1A1A1A"/>
                </a:solidFill>
                <a:latin typeface="Times New Roman"/>
              </a:defRPr>
            </a:pPr>
            <a: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617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Case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983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Times New Roman"/>
              </a:defRPr>
            </a:pPr>
            <a:r>
              <a:t>Confirm, reject, or escalate</a:t>
            </a:r>
            <a:br/>
            <a:r>
              <a:t>with live triage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Times New Roman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280160" cy="1280160"/>
          </a:xfrm>
          <a:prstGeom prst="ellipse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4200" b="1">
                <a:solidFill>
                  <a:srgbClr val="1A1A1A"/>
                </a:solidFill>
                <a:latin typeface="Times New Roman"/>
              </a:defRPr>
            </a:pPr>
            <a:r>
              <a:t>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C953"/>
                </a:solidFill>
                <a:latin typeface="Times New Roman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572000"/>
            <a:ext cx="11094415" cy="25400"/>
          </a:xfrm>
          <a:prstGeom prst="rect">
            <a:avLst/>
          </a:prstGeom>
          <a:solidFill>
            <a:srgbClr val="00C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Times New Roman"/>
              </a:defRPr>
            </a:pPr>
            <a:r>
              <a:t>AuditIQ Analytics Platform  |  AI-Powered Fraud Detection for Enterprise Audits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920240" cy="3657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6875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53"/>
                </a:solidFill>
                <a:latin typeface="Times New Roman"/>
              </a:defRPr>
            </a:pPr>
            <a:r>
              <a:t>7 Detection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5669280"/>
            <a:ext cx="1920240" cy="3657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6875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53"/>
                </a:solidFill>
                <a:latin typeface="Times New Roman"/>
              </a:defRPr>
            </a:pPr>
            <a:r>
              <a:t>2 Audit Domains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5669280"/>
            <a:ext cx="1920240" cy="3657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56875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53"/>
                </a:solidFill>
                <a:latin typeface="Times New Roman"/>
              </a:defRPr>
            </a:pPr>
            <a:r>
              <a:t>9 Dashboard Pages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5669280"/>
            <a:ext cx="1920240" cy="3657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56875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53"/>
                </a:solidFill>
                <a:latin typeface="Times New Roman"/>
              </a:defRPr>
            </a:pPr>
            <a:r>
              <a:t>Full Audit Trail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5669280"/>
            <a:ext cx="1920240" cy="3657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00C9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56875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53"/>
                </a:solidFill>
                <a:latin typeface="Times New Roman"/>
              </a:defRPr>
            </a:pPr>
            <a:r>
              <a:t>Parallel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Times New Roman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